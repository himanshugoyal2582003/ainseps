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BM Plex Sans" charset="1" panose="020B0503050203000203"/>
      <p:regular r:id="rId14"/>
    </p:embeddedFont>
    <p:embeddedFont>
      <p:font typeface="Cormorant Garamond" charset="1" panose="00000500000000000000"/>
      <p:regular r:id="rId15"/>
    </p:embeddedFont>
    <p:embeddedFont>
      <p:font typeface="Garet Bold" charset="1" panose="00000000000000000000"/>
      <p:regular r:id="rId16"/>
    </p:embeddedFont>
    <p:embeddedFont>
      <p:font typeface="Montserrat Semi-Bold" charset="1" panose="00000700000000000000"/>
      <p:regular r:id="rId17"/>
    </p:embeddedFont>
    <p:embeddedFont>
      <p:font typeface="Montserrat Medium" charset="1" panose="00000600000000000000"/>
      <p:regular r:id="rId18"/>
    </p:embeddedFont>
    <p:embeddedFont>
      <p:font typeface="Open Sans" charset="1" panose="00000000000000000000"/>
      <p:regular r:id="rId19"/>
    </p:embeddedFont>
    <p:embeddedFont>
      <p:font typeface="Poppins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2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2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8925" y="0"/>
            <a:ext cx="9356968" cy="9356968"/>
          </a:xfrm>
          <a:custGeom>
            <a:avLst/>
            <a:gdLst/>
            <a:ahLst/>
            <a:cxnLst/>
            <a:rect r="r" b="b" t="t" l="l"/>
            <a:pathLst>
              <a:path h="9356968" w="9356968">
                <a:moveTo>
                  <a:pt x="0" y="0"/>
                </a:moveTo>
                <a:lnTo>
                  <a:pt x="9356968" y="0"/>
                </a:lnTo>
                <a:lnTo>
                  <a:pt x="9356968" y="9356968"/>
                </a:lnTo>
                <a:lnTo>
                  <a:pt x="0" y="935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952225" y="-4632358"/>
            <a:ext cx="18313838" cy="13419048"/>
          </a:xfrm>
          <a:custGeom>
            <a:avLst/>
            <a:gdLst/>
            <a:ahLst/>
            <a:cxnLst/>
            <a:rect r="r" b="b" t="t" l="l"/>
            <a:pathLst>
              <a:path h="13419048" w="18313838">
                <a:moveTo>
                  <a:pt x="0" y="0"/>
                </a:moveTo>
                <a:lnTo>
                  <a:pt x="18313838" y="0"/>
                </a:lnTo>
                <a:lnTo>
                  <a:pt x="18313838" y="13419048"/>
                </a:lnTo>
                <a:lnTo>
                  <a:pt x="0" y="1341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227406" y="131895"/>
            <a:ext cx="11833188" cy="9728556"/>
          </a:xfrm>
          <a:custGeom>
            <a:avLst/>
            <a:gdLst/>
            <a:ahLst/>
            <a:cxnLst/>
            <a:rect r="r" b="b" t="t" l="l"/>
            <a:pathLst>
              <a:path h="9728556" w="11833188">
                <a:moveTo>
                  <a:pt x="0" y="0"/>
                </a:moveTo>
                <a:lnTo>
                  <a:pt x="11833188" y="0"/>
                </a:lnTo>
                <a:lnTo>
                  <a:pt x="11833188" y="9728555"/>
                </a:lnTo>
                <a:lnTo>
                  <a:pt x="0" y="97285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603810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335496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871964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00157" y="9011038"/>
            <a:ext cx="17444045" cy="497083"/>
            <a:chOff x="0" y="0"/>
            <a:chExt cx="23258727" cy="662777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38100"/>
              <a:ext cx="5196507" cy="610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0"/>
                </a:lnSpc>
              </a:pPr>
              <a:r>
                <a:rPr lang="en-US" sz="3245" spc="-6">
                  <a:solidFill>
                    <a:srgbClr val="FFFFFF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HIMANSHU GOYAL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152296" y="43189"/>
              <a:ext cx="5372828" cy="6103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0"/>
                </a:lnSpc>
              </a:pPr>
              <a:r>
                <a:rPr lang="en-US" sz="3245" spc="-6">
                  <a:solidFill>
                    <a:srgbClr val="FFFFFF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PRIYANSHU YADEV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666623" y="39280"/>
              <a:ext cx="5187118" cy="6101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33"/>
                </a:lnSpc>
              </a:pPr>
              <a:r>
                <a:rPr lang="en-US" sz="3239" spc="-6">
                  <a:solidFill>
                    <a:srgbClr val="FFFFFF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RIDAM MITTAL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7853741" y="48805"/>
              <a:ext cx="5404986" cy="61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60"/>
                </a:lnSpc>
              </a:pPr>
              <a:r>
                <a:rPr lang="en-US" sz="3264" spc="-6">
                  <a:solidFill>
                    <a:srgbClr val="FFFFFF"/>
                  </a:solidFill>
                  <a:latin typeface="Cormorant Garamond"/>
                  <a:ea typeface="Cormorant Garamond"/>
                  <a:cs typeface="Cormorant Garamond"/>
                  <a:sym typeface="Cormorant Garamond"/>
                </a:rPr>
                <a:t>ABHISHEK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065774">
            <a:off x="-9071213" y="106344"/>
            <a:ext cx="15462153" cy="11329541"/>
          </a:xfrm>
          <a:custGeom>
            <a:avLst/>
            <a:gdLst/>
            <a:ahLst/>
            <a:cxnLst/>
            <a:rect r="r" b="b" t="t" l="l"/>
            <a:pathLst>
              <a:path h="11329541" w="15462153">
                <a:moveTo>
                  <a:pt x="0" y="0"/>
                </a:moveTo>
                <a:lnTo>
                  <a:pt x="15462154" y="0"/>
                </a:lnTo>
                <a:lnTo>
                  <a:pt x="15462154" y="11329542"/>
                </a:lnTo>
                <a:lnTo>
                  <a:pt x="0" y="11329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 flipH="true" flipV="true">
            <a:off x="738188" y="679841"/>
            <a:ext cx="0" cy="9607159"/>
          </a:xfrm>
          <a:prstGeom prst="line">
            <a:avLst/>
          </a:prstGeom>
          <a:ln cap="flat" w="9525">
            <a:solidFill>
              <a:srgbClr val="FFFFFF">
                <a:alpha val="56863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2093104" y="1263117"/>
            <a:ext cx="6765106" cy="3880383"/>
            <a:chOff x="0" y="0"/>
            <a:chExt cx="7981950" cy="4578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4"/>
              <a:stretch>
                <a:fillRect l="-2225" t="0" r="-56214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10049570">
            <a:off x="10912752" y="-3611066"/>
            <a:ext cx="15462153" cy="11329541"/>
          </a:xfrm>
          <a:custGeom>
            <a:avLst/>
            <a:gdLst/>
            <a:ahLst/>
            <a:cxnLst/>
            <a:rect r="r" b="b" t="t" l="l"/>
            <a:pathLst>
              <a:path h="11329541" w="15462153">
                <a:moveTo>
                  <a:pt x="0" y="0"/>
                </a:moveTo>
                <a:lnTo>
                  <a:pt x="15462154" y="0"/>
                </a:lnTo>
                <a:lnTo>
                  <a:pt x="15462154" y="11329542"/>
                </a:lnTo>
                <a:lnTo>
                  <a:pt x="0" y="113295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10424489" y="1623832"/>
            <a:ext cx="7664766" cy="793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8"/>
              </a:lnSpc>
            </a:pPr>
            <a:r>
              <a:rPr lang="en-US" b="true" sz="4952" spc="-99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03029" y="6488911"/>
            <a:ext cx="4229975" cy="29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3"/>
              </a:lnSpc>
            </a:pPr>
            <a:r>
              <a:rPr lang="en-US" sz="2097" b="true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3104" y="6454350"/>
            <a:ext cx="776576" cy="47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64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003029" y="6900102"/>
            <a:ext cx="3488239" cy="10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4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system analyzes historical stock prices and market trends using machine learning techniques to understand price movements.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99731" y="6488911"/>
            <a:ext cx="3139431" cy="29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3"/>
              </a:lnSpc>
            </a:pPr>
            <a:r>
              <a:rPr lang="en-US" sz="2097" b="true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Intelligent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3004" y="6454350"/>
            <a:ext cx="776576" cy="4711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64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15062" y="6900102"/>
            <a:ext cx="3228463" cy="1098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4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It combines LSTM and XGBoost models with sentiment analysis to generate accurate forecasts and actionable recommendations.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48885" y="2700940"/>
            <a:ext cx="6680292" cy="130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2"/>
              </a:lnSpc>
            </a:pPr>
            <a:r>
              <a:rPr lang="en-US" sz="223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AI-based systems analyze large amounts of financial and market data to identify patterns and trends.</a:t>
            </a:r>
          </a:p>
        </p:txBody>
      </p:sp>
      <p:sp>
        <p:nvSpPr>
          <p:cNvPr name="TextBox 19" id="19"/>
          <p:cNvSpPr txBox="true"/>
          <p:nvPr/>
        </p:nvSpPr>
        <p:spPr>
          <a:xfrm rot="5400000">
            <a:off x="-1125046" y="2108026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AINSEP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3189775">
            <a:off x="9548565" y="5922418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5"/>
                </a:lnTo>
                <a:lnTo>
                  <a:pt x="0" y="84915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1" id="21"/>
          <p:cNvSpPr txBox="true"/>
          <p:nvPr/>
        </p:nvSpPr>
        <p:spPr>
          <a:xfrm rot="0">
            <a:off x="12286476" y="6407865"/>
            <a:ext cx="776576" cy="471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2"/>
              </a:lnSpc>
            </a:pPr>
            <a:r>
              <a:rPr lang="en-US" sz="3464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48802" y="6488911"/>
            <a:ext cx="3139431" cy="29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3"/>
              </a:lnSpc>
            </a:pPr>
            <a:r>
              <a:rPr lang="en-US" sz="2097" b="true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Multi-Factor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67852" y="6900102"/>
            <a:ext cx="3228463" cy="821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7"/>
              </a:lnSpc>
            </a:pPr>
            <a:r>
              <a:rPr lang="en-US" sz="14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It combines historical trends, technical indicators, and news sentiment to generate smarter stock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343311">
            <a:off x="-1999514" y="-2707102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5"/>
                </a:lnTo>
                <a:lnTo>
                  <a:pt x="0" y="8491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 flipH="true" flipV="true">
            <a:off x="738188" y="679841"/>
            <a:ext cx="0" cy="9607159"/>
          </a:xfrm>
          <a:prstGeom prst="line">
            <a:avLst/>
          </a:prstGeom>
          <a:ln cap="flat" w="9525">
            <a:solidFill>
              <a:srgbClr val="FFFFFF">
                <a:alpha val="5686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325032">
            <a:off x="-6818419" y="5848069"/>
            <a:ext cx="15462153" cy="11329541"/>
          </a:xfrm>
          <a:custGeom>
            <a:avLst/>
            <a:gdLst/>
            <a:ahLst/>
            <a:cxnLst/>
            <a:rect r="r" b="b" t="t" l="l"/>
            <a:pathLst>
              <a:path h="11329541" w="15462153">
                <a:moveTo>
                  <a:pt x="0" y="0"/>
                </a:moveTo>
                <a:lnTo>
                  <a:pt x="15462153" y="0"/>
                </a:lnTo>
                <a:lnTo>
                  <a:pt x="15462153" y="11329541"/>
                </a:lnTo>
                <a:lnTo>
                  <a:pt x="0" y="11329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10049570">
            <a:off x="8878776" y="-4809475"/>
            <a:ext cx="16902006" cy="12384561"/>
          </a:xfrm>
          <a:custGeom>
            <a:avLst/>
            <a:gdLst/>
            <a:ahLst/>
            <a:cxnLst/>
            <a:rect r="r" b="b" t="t" l="l"/>
            <a:pathLst>
              <a:path h="12384561" w="16902006">
                <a:moveTo>
                  <a:pt x="0" y="0"/>
                </a:moveTo>
                <a:lnTo>
                  <a:pt x="16902006" y="0"/>
                </a:lnTo>
                <a:lnTo>
                  <a:pt x="16902006" y="12384561"/>
                </a:lnTo>
                <a:lnTo>
                  <a:pt x="0" y="123845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8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738188" y="1933116"/>
            <a:ext cx="9053213" cy="919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87"/>
              </a:lnSpc>
            </a:pPr>
            <a:r>
              <a:rPr lang="en-US" b="true" sz="5849" spc="-11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Why This System?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4309" y="3417222"/>
            <a:ext cx="14383485" cy="5841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06315" indent="-353158" lvl="1">
              <a:lnSpc>
                <a:spcPts val="5149"/>
              </a:lnSpc>
              <a:buFont typeface="Arial"/>
              <a:buChar char="•"/>
            </a:pPr>
            <a:r>
              <a:rPr lang="en-US" sz="327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Reduces black-box behavior by explaining model decision-making clearly</a:t>
            </a:r>
          </a:p>
          <a:p>
            <a:pPr algn="just" marL="706315" indent="-353158" lvl="1">
              <a:lnSpc>
                <a:spcPts val="5149"/>
              </a:lnSpc>
              <a:buFont typeface="Arial"/>
              <a:buChar char="•"/>
            </a:pPr>
            <a:r>
              <a:rPr lang="en-US" sz="327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Makes predictions interpretable by showing feature contribution values</a:t>
            </a:r>
          </a:p>
          <a:p>
            <a:pPr algn="just" marL="706315" indent="-353158" lvl="1">
              <a:lnSpc>
                <a:spcPts val="5149"/>
              </a:lnSpc>
              <a:buFont typeface="Arial"/>
              <a:buChar char="•"/>
            </a:pPr>
            <a:r>
              <a:rPr lang="en-US" sz="327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Builds user trust through transparent and understandable prediction insights</a:t>
            </a:r>
          </a:p>
          <a:p>
            <a:pPr algn="just" marL="706315" indent="-353158" lvl="1">
              <a:lnSpc>
                <a:spcPts val="5149"/>
              </a:lnSpc>
              <a:buFont typeface="Arial"/>
              <a:buChar char="•"/>
            </a:pPr>
            <a:r>
              <a:rPr lang="en-US" sz="3271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Useful in real-world finance for reliable and explainable decision support</a:t>
            </a:r>
          </a:p>
          <a:p>
            <a:pPr algn="just">
              <a:lnSpc>
                <a:spcPts val="514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-3189775">
            <a:off x="9767712" y="5945264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6"/>
                </a:lnTo>
                <a:lnTo>
                  <a:pt x="0" y="84915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3777397" cy="5436486"/>
          </a:xfrm>
          <a:custGeom>
            <a:avLst/>
            <a:gdLst/>
            <a:ahLst/>
            <a:cxnLst/>
            <a:rect r="r" b="b" t="t" l="l"/>
            <a:pathLst>
              <a:path h="5436486" w="13777397">
                <a:moveTo>
                  <a:pt x="0" y="0"/>
                </a:moveTo>
                <a:lnTo>
                  <a:pt x="13777397" y="0"/>
                </a:lnTo>
                <a:lnTo>
                  <a:pt x="13777397" y="5436486"/>
                </a:lnTo>
                <a:lnTo>
                  <a:pt x="0" y="5436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436486"/>
            <a:ext cx="8420654" cy="4850514"/>
          </a:xfrm>
          <a:custGeom>
            <a:avLst/>
            <a:gdLst/>
            <a:ahLst/>
            <a:cxnLst/>
            <a:rect r="r" b="b" t="t" l="l"/>
            <a:pathLst>
              <a:path h="4850514" w="8420654">
                <a:moveTo>
                  <a:pt x="0" y="0"/>
                </a:moveTo>
                <a:lnTo>
                  <a:pt x="8420654" y="0"/>
                </a:lnTo>
                <a:lnTo>
                  <a:pt x="8420654" y="4850514"/>
                </a:lnTo>
                <a:lnTo>
                  <a:pt x="0" y="485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420654" y="5436486"/>
            <a:ext cx="4665207" cy="4723431"/>
          </a:xfrm>
          <a:custGeom>
            <a:avLst/>
            <a:gdLst/>
            <a:ahLst/>
            <a:cxnLst/>
            <a:rect r="r" b="b" t="t" l="l"/>
            <a:pathLst>
              <a:path h="4723431" w="4665207">
                <a:moveTo>
                  <a:pt x="0" y="0"/>
                </a:moveTo>
                <a:lnTo>
                  <a:pt x="4665207" y="0"/>
                </a:lnTo>
                <a:lnTo>
                  <a:pt x="4665207" y="4723432"/>
                </a:lnTo>
                <a:lnTo>
                  <a:pt x="0" y="4723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695411" y="0"/>
            <a:ext cx="4592589" cy="5506647"/>
          </a:xfrm>
          <a:custGeom>
            <a:avLst/>
            <a:gdLst/>
            <a:ahLst/>
            <a:cxnLst/>
            <a:rect r="r" b="b" t="t" l="l"/>
            <a:pathLst>
              <a:path h="5506647" w="4592589">
                <a:moveTo>
                  <a:pt x="0" y="0"/>
                </a:moveTo>
                <a:lnTo>
                  <a:pt x="4592589" y="0"/>
                </a:lnTo>
                <a:lnTo>
                  <a:pt x="4592589" y="5506647"/>
                </a:lnTo>
                <a:lnTo>
                  <a:pt x="0" y="550664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127432" y="5436486"/>
            <a:ext cx="4801008" cy="5549217"/>
          </a:xfrm>
          <a:custGeom>
            <a:avLst/>
            <a:gdLst/>
            <a:ahLst/>
            <a:cxnLst/>
            <a:rect r="r" b="b" t="t" l="l"/>
            <a:pathLst>
              <a:path h="5549217" w="4801008">
                <a:moveTo>
                  <a:pt x="0" y="0"/>
                </a:moveTo>
                <a:lnTo>
                  <a:pt x="4801008" y="0"/>
                </a:lnTo>
                <a:lnTo>
                  <a:pt x="4801008" y="5549217"/>
                </a:lnTo>
                <a:lnTo>
                  <a:pt x="0" y="55492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4811210">
            <a:off x="-3171032" y="-5307950"/>
            <a:ext cx="15462153" cy="11329541"/>
          </a:xfrm>
          <a:custGeom>
            <a:avLst/>
            <a:gdLst/>
            <a:ahLst/>
            <a:cxnLst/>
            <a:rect r="r" b="b" t="t" l="l"/>
            <a:pathLst>
              <a:path h="11329541" w="15462153">
                <a:moveTo>
                  <a:pt x="0" y="0"/>
                </a:moveTo>
                <a:lnTo>
                  <a:pt x="15462153" y="0"/>
                </a:lnTo>
                <a:lnTo>
                  <a:pt x="15462153" y="11329541"/>
                </a:lnTo>
                <a:lnTo>
                  <a:pt x="0" y="1132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AutoShape 3" id="3"/>
          <p:cNvSpPr/>
          <p:nvPr/>
        </p:nvSpPr>
        <p:spPr>
          <a:xfrm flipH="true" flipV="true">
            <a:off x="738188" y="679841"/>
            <a:ext cx="0" cy="9607159"/>
          </a:xfrm>
          <a:prstGeom prst="line">
            <a:avLst/>
          </a:prstGeom>
          <a:ln cap="flat" w="9525">
            <a:solidFill>
              <a:srgbClr val="FFFFFF">
                <a:alpha val="56863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858368" y="5899735"/>
            <a:ext cx="3570189" cy="926189"/>
            <a:chOff x="0" y="0"/>
            <a:chExt cx="970679" cy="251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0679" cy="251816"/>
            </a:xfrm>
            <a:custGeom>
              <a:avLst/>
              <a:gdLst/>
              <a:ahLst/>
              <a:cxnLst/>
              <a:rect r="r" b="b" t="t" l="l"/>
              <a:pathLst>
                <a:path h="251816" w="970679">
                  <a:moveTo>
                    <a:pt x="125908" y="0"/>
                  </a:moveTo>
                  <a:lnTo>
                    <a:pt x="844771" y="0"/>
                  </a:lnTo>
                  <a:cubicBezTo>
                    <a:pt x="914308" y="0"/>
                    <a:pt x="970679" y="56371"/>
                    <a:pt x="970679" y="125908"/>
                  </a:cubicBezTo>
                  <a:lnTo>
                    <a:pt x="970679" y="125908"/>
                  </a:lnTo>
                  <a:cubicBezTo>
                    <a:pt x="970679" y="195445"/>
                    <a:pt x="914308" y="251816"/>
                    <a:pt x="844771" y="251816"/>
                  </a:cubicBezTo>
                  <a:lnTo>
                    <a:pt x="125908" y="251816"/>
                  </a:lnTo>
                  <a:cubicBezTo>
                    <a:pt x="56371" y="251816"/>
                    <a:pt x="0" y="195445"/>
                    <a:pt x="0" y="125908"/>
                  </a:cubicBezTo>
                  <a:lnTo>
                    <a:pt x="0" y="125908"/>
                  </a:lnTo>
                  <a:cubicBezTo>
                    <a:pt x="0" y="56371"/>
                    <a:pt x="56371" y="0"/>
                    <a:pt x="125908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970679" cy="280391"/>
            </a:xfrm>
            <a:prstGeom prst="rect">
              <a:avLst/>
            </a:prstGeom>
          </p:spPr>
          <p:txBody>
            <a:bodyPr anchor="ctr" rtlCol="false" tIns="46687" lIns="46687" bIns="46687" rIns="46687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38188" y="7555775"/>
            <a:ext cx="10727827" cy="10727827"/>
          </a:xfrm>
          <a:custGeom>
            <a:avLst/>
            <a:gdLst/>
            <a:ahLst/>
            <a:cxnLst/>
            <a:rect r="r" b="b" t="t" l="l"/>
            <a:pathLst>
              <a:path h="10727827" w="10727827">
                <a:moveTo>
                  <a:pt x="0" y="0"/>
                </a:moveTo>
                <a:lnTo>
                  <a:pt x="10727827" y="0"/>
                </a:lnTo>
                <a:lnTo>
                  <a:pt x="10727827" y="10727827"/>
                </a:lnTo>
                <a:lnTo>
                  <a:pt x="0" y="107278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789006" y="5890333"/>
            <a:ext cx="3570189" cy="926189"/>
            <a:chOff x="0" y="0"/>
            <a:chExt cx="970679" cy="2518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0679" cy="251816"/>
            </a:xfrm>
            <a:custGeom>
              <a:avLst/>
              <a:gdLst/>
              <a:ahLst/>
              <a:cxnLst/>
              <a:rect r="r" b="b" t="t" l="l"/>
              <a:pathLst>
                <a:path h="251816" w="970679">
                  <a:moveTo>
                    <a:pt x="125908" y="0"/>
                  </a:moveTo>
                  <a:lnTo>
                    <a:pt x="844771" y="0"/>
                  </a:lnTo>
                  <a:cubicBezTo>
                    <a:pt x="914308" y="0"/>
                    <a:pt x="970679" y="56371"/>
                    <a:pt x="970679" y="125908"/>
                  </a:cubicBezTo>
                  <a:lnTo>
                    <a:pt x="970679" y="125908"/>
                  </a:lnTo>
                  <a:cubicBezTo>
                    <a:pt x="970679" y="195445"/>
                    <a:pt x="914308" y="251816"/>
                    <a:pt x="844771" y="251816"/>
                  </a:cubicBezTo>
                  <a:lnTo>
                    <a:pt x="125908" y="251816"/>
                  </a:lnTo>
                  <a:cubicBezTo>
                    <a:pt x="56371" y="251816"/>
                    <a:pt x="0" y="195445"/>
                    <a:pt x="0" y="125908"/>
                  </a:cubicBezTo>
                  <a:lnTo>
                    <a:pt x="0" y="125908"/>
                  </a:lnTo>
                  <a:cubicBezTo>
                    <a:pt x="0" y="56371"/>
                    <a:pt x="56371" y="0"/>
                    <a:pt x="125908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970679" cy="280391"/>
            </a:xfrm>
            <a:prstGeom prst="rect">
              <a:avLst/>
            </a:prstGeom>
          </p:spPr>
          <p:txBody>
            <a:bodyPr anchor="ctr" rtlCol="false" tIns="46687" lIns="46687" bIns="46687" rIns="46687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060011" y="5890333"/>
            <a:ext cx="3570189" cy="926189"/>
            <a:chOff x="0" y="0"/>
            <a:chExt cx="970679" cy="2518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0679" cy="251816"/>
            </a:xfrm>
            <a:custGeom>
              <a:avLst/>
              <a:gdLst/>
              <a:ahLst/>
              <a:cxnLst/>
              <a:rect r="r" b="b" t="t" l="l"/>
              <a:pathLst>
                <a:path h="251816" w="970679">
                  <a:moveTo>
                    <a:pt x="125908" y="0"/>
                  </a:moveTo>
                  <a:lnTo>
                    <a:pt x="844771" y="0"/>
                  </a:lnTo>
                  <a:cubicBezTo>
                    <a:pt x="914308" y="0"/>
                    <a:pt x="970679" y="56371"/>
                    <a:pt x="970679" y="125908"/>
                  </a:cubicBezTo>
                  <a:lnTo>
                    <a:pt x="970679" y="125908"/>
                  </a:lnTo>
                  <a:cubicBezTo>
                    <a:pt x="970679" y="195445"/>
                    <a:pt x="914308" y="251816"/>
                    <a:pt x="844771" y="251816"/>
                  </a:cubicBezTo>
                  <a:lnTo>
                    <a:pt x="125908" y="251816"/>
                  </a:lnTo>
                  <a:cubicBezTo>
                    <a:pt x="56371" y="251816"/>
                    <a:pt x="0" y="195445"/>
                    <a:pt x="0" y="125908"/>
                  </a:cubicBezTo>
                  <a:lnTo>
                    <a:pt x="0" y="125908"/>
                  </a:lnTo>
                  <a:cubicBezTo>
                    <a:pt x="0" y="56371"/>
                    <a:pt x="56371" y="0"/>
                    <a:pt x="125908" y="0"/>
                  </a:cubicBezTo>
                  <a:close/>
                </a:path>
              </a:pathLst>
            </a:custGeom>
            <a:ln w="9525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70679" cy="280391"/>
            </a:xfrm>
            <a:prstGeom prst="rect">
              <a:avLst/>
            </a:prstGeom>
          </p:spPr>
          <p:txBody>
            <a:bodyPr anchor="ctr" rtlCol="false" tIns="46687" lIns="46687" bIns="46687" rIns="46687"/>
            <a:lstStyle/>
            <a:p>
              <a:pPr algn="ctr">
                <a:lnSpc>
                  <a:spcPts val="228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643462" y="979850"/>
            <a:ext cx="9118791" cy="3700808"/>
          </a:xfrm>
          <a:custGeom>
            <a:avLst/>
            <a:gdLst/>
            <a:ahLst/>
            <a:cxnLst/>
            <a:rect r="r" b="b" t="t" l="l"/>
            <a:pathLst>
              <a:path h="3700808" w="9118791">
                <a:moveTo>
                  <a:pt x="0" y="0"/>
                </a:moveTo>
                <a:lnTo>
                  <a:pt x="9118791" y="0"/>
                </a:lnTo>
                <a:lnTo>
                  <a:pt x="9118791" y="3700808"/>
                </a:lnTo>
                <a:lnTo>
                  <a:pt x="0" y="37008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880093" y="2039831"/>
            <a:ext cx="9146110" cy="52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b="true" sz="3849" spc="-7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Key Features of AINSEP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33881" y="6082961"/>
            <a:ext cx="2880440" cy="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b="true" sz="220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Accurate Price Prediction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96946" y="6082961"/>
            <a:ext cx="2880440" cy="588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b="true" sz="220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Multi-Factor Analysis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880093" y="7162571"/>
            <a:ext cx="4401038" cy="129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65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Uses hybrid machine learning models like LSTM and XGBoost to analyze historical trends and generate reliable future stock price predictions.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58368" y="7162571"/>
            <a:ext cx="3982567" cy="129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65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Combines technical indicators, news sentiment, and market trends to provide deeper insights beyond traditional price-based prediction methods.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04886" y="6227397"/>
            <a:ext cx="2880440" cy="299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b="true" sz="2201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Real-Time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060011" y="7162571"/>
            <a:ext cx="4401038" cy="96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65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Fetches live data and news to provide up-to-date analysis, helping users make informed and timely investment decisions.</a:t>
            </a:r>
          </a:p>
        </p:txBody>
      </p:sp>
      <p:sp>
        <p:nvSpPr>
          <p:cNvPr name="TextBox 22" id="22"/>
          <p:cNvSpPr txBox="true"/>
          <p:nvPr/>
        </p:nvSpPr>
        <p:spPr>
          <a:xfrm rot="5400000">
            <a:off x="-1125046" y="2108026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80093" y="2773104"/>
            <a:ext cx="6268455" cy="138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0"/>
              </a:lnSpc>
            </a:pPr>
            <a:r>
              <a:rPr lang="en-US" sz="178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AINSEP provides an intelligent stock prediction system that combines machine learning, technical analysis, and real-time news sentiment to generate accurate forecasts and actionable insights.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4026457">
            <a:off x="10859643" y="4805741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6"/>
                </a:lnTo>
                <a:lnTo>
                  <a:pt x="0" y="849154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5981" y="-5924590"/>
            <a:ext cx="10727827" cy="10727827"/>
          </a:xfrm>
          <a:custGeom>
            <a:avLst/>
            <a:gdLst/>
            <a:ahLst/>
            <a:cxnLst/>
            <a:rect r="r" b="b" t="t" l="l"/>
            <a:pathLst>
              <a:path h="10727827" w="10727827">
                <a:moveTo>
                  <a:pt x="0" y="0"/>
                </a:moveTo>
                <a:lnTo>
                  <a:pt x="10727828" y="0"/>
                </a:lnTo>
                <a:lnTo>
                  <a:pt x="10727828" y="10727827"/>
                </a:lnTo>
                <a:lnTo>
                  <a:pt x="0" y="107278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9813219" cy="6893786"/>
          </a:xfrm>
          <a:custGeom>
            <a:avLst/>
            <a:gdLst/>
            <a:ahLst/>
            <a:cxnLst/>
            <a:rect r="r" b="b" t="t" l="l"/>
            <a:pathLst>
              <a:path h="6893786" w="9813219">
                <a:moveTo>
                  <a:pt x="0" y="0"/>
                </a:moveTo>
                <a:lnTo>
                  <a:pt x="9813219" y="0"/>
                </a:lnTo>
                <a:lnTo>
                  <a:pt x="9813219" y="6893786"/>
                </a:lnTo>
                <a:lnTo>
                  <a:pt x="0" y="68937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54830" y="6721523"/>
            <a:ext cx="8964519" cy="3283255"/>
          </a:xfrm>
          <a:custGeom>
            <a:avLst/>
            <a:gdLst/>
            <a:ahLst/>
            <a:cxnLst/>
            <a:rect r="r" b="b" t="t" l="l"/>
            <a:pathLst>
              <a:path h="3283255" w="8964519">
                <a:moveTo>
                  <a:pt x="0" y="0"/>
                </a:moveTo>
                <a:lnTo>
                  <a:pt x="8964519" y="0"/>
                </a:lnTo>
                <a:lnTo>
                  <a:pt x="8964519" y="3283255"/>
                </a:lnTo>
                <a:lnTo>
                  <a:pt x="0" y="3283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9349" y="6103158"/>
            <a:ext cx="15055728" cy="15055728"/>
          </a:xfrm>
          <a:custGeom>
            <a:avLst/>
            <a:gdLst/>
            <a:ahLst/>
            <a:cxnLst/>
            <a:rect r="r" b="b" t="t" l="l"/>
            <a:pathLst>
              <a:path h="15055728" w="15055728">
                <a:moveTo>
                  <a:pt x="0" y="0"/>
                </a:moveTo>
                <a:lnTo>
                  <a:pt x="15055727" y="0"/>
                </a:lnTo>
                <a:lnTo>
                  <a:pt x="15055727" y="15055727"/>
                </a:lnTo>
                <a:lnTo>
                  <a:pt x="0" y="150557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6" id="6"/>
          <p:cNvSpPr txBox="true"/>
          <p:nvPr/>
        </p:nvSpPr>
        <p:spPr>
          <a:xfrm rot="0">
            <a:off x="11823217" y="503053"/>
            <a:ext cx="9146110" cy="525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0"/>
              </a:lnSpc>
            </a:pPr>
            <a:r>
              <a:rPr lang="en-US" b="true" sz="3849" spc="-76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System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28729" y="1231485"/>
            <a:ext cx="7267403" cy="8773293"/>
            <a:chOff x="0" y="0"/>
            <a:chExt cx="9689871" cy="11697724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1343779"/>
              <a:ext cx="9689871" cy="972447"/>
              <a:chOff x="0" y="0"/>
              <a:chExt cx="2069528" cy="20769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Frontend sends request to FastAPI backend</a:t>
                </a: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0"/>
              <a:ext cx="9689871" cy="972447"/>
              <a:chOff x="0" y="0"/>
              <a:chExt cx="2069528" cy="207692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User enters stock ticker from dashboard</a:t>
                </a: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6711494"/>
              <a:ext cx="9689871" cy="972447"/>
              <a:chOff x="0" y="0"/>
              <a:chExt cx="2069528" cy="207692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Technical agent analyzes indicators like RSI and MACD</a:t>
                </a: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8052858"/>
              <a:ext cx="9689871" cy="972447"/>
              <a:chOff x="0" y="0"/>
              <a:chExt cx="2069528" cy="207692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Sentiment agent analyzes news and calculates sentiment score</a:t>
                </a: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2687558"/>
              <a:ext cx="9689871" cy="972447"/>
              <a:chOff x="0" y="0"/>
              <a:chExt cx="2069528" cy="20769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System fetches historical stock data using yfinance</a:t>
                </a: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4028922"/>
              <a:ext cx="9689871" cy="972447"/>
              <a:chOff x="0" y="0"/>
              <a:chExt cx="2069528" cy="20769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Data is processed and prepared for model input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5367715"/>
              <a:ext cx="9689871" cy="972447"/>
              <a:chOff x="0" y="0"/>
              <a:chExt cx="2069528" cy="207692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Hybrid model (LSTM + XGBoost) predicts future prices</a:t>
                </a: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0" y="9389067"/>
              <a:ext cx="9689871" cy="972447"/>
              <a:chOff x="0" y="0"/>
              <a:chExt cx="2069528" cy="207692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Aggregator combines all outputs to generate final decision</a:t>
                </a: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0" y="10725277"/>
              <a:ext cx="9689871" cy="972447"/>
              <a:chOff x="0" y="0"/>
              <a:chExt cx="2069528" cy="207692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069528" cy="207692"/>
              </a:xfrm>
              <a:custGeom>
                <a:avLst/>
                <a:gdLst/>
                <a:ahLst/>
                <a:cxnLst/>
                <a:rect r="r" b="b" t="t" l="l"/>
                <a:pathLst>
                  <a:path h="207692" w="2069528">
                    <a:moveTo>
                      <a:pt x="101710" y="0"/>
                    </a:moveTo>
                    <a:lnTo>
                      <a:pt x="1967818" y="0"/>
                    </a:lnTo>
                    <a:cubicBezTo>
                      <a:pt x="2023991" y="0"/>
                      <a:pt x="2069528" y="45537"/>
                      <a:pt x="2069528" y="101710"/>
                    </a:cubicBezTo>
                    <a:lnTo>
                      <a:pt x="2069528" y="105982"/>
                    </a:lnTo>
                    <a:cubicBezTo>
                      <a:pt x="2069528" y="162155"/>
                      <a:pt x="2023991" y="207692"/>
                      <a:pt x="1967818" y="207692"/>
                    </a:cubicBezTo>
                    <a:lnTo>
                      <a:pt x="101710" y="207692"/>
                    </a:lnTo>
                    <a:cubicBezTo>
                      <a:pt x="45537" y="207692"/>
                      <a:pt x="0" y="162155"/>
                      <a:pt x="0" y="105982"/>
                    </a:cubicBezTo>
                    <a:lnTo>
                      <a:pt x="0" y="101710"/>
                    </a:lnTo>
                    <a:cubicBezTo>
                      <a:pt x="0" y="45537"/>
                      <a:pt x="45537" y="0"/>
                      <a:pt x="101710" y="0"/>
                    </a:cubicBezTo>
                    <a:close/>
                  </a:path>
                </a:pathLst>
              </a:custGeom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2069528" cy="236267"/>
              </a:xfrm>
              <a:prstGeom prst="rect">
                <a:avLst/>
              </a:prstGeom>
            </p:spPr>
            <p:txBody>
              <a:bodyPr anchor="ctr" rtlCol="false" tIns="46687" lIns="46687" bIns="46687" rIns="46687"/>
              <a:lstStyle/>
              <a:p>
                <a:pPr algn="ctr">
                  <a:lnSpc>
                    <a:spcPts val="2286"/>
                  </a:lnSpc>
                </a:pPr>
                <a:r>
                  <a:rPr lang="en-US" b="true" sz="1633" spc="76">
                    <a:solidFill>
                      <a:srgbClr val="FFFFFF"/>
                    </a:solidFill>
                    <a:latin typeface="Montserrat Medium"/>
                    <a:ea typeface="Montserrat Medium"/>
                    <a:cs typeface="Montserrat Medium"/>
                    <a:sym typeface="Montserrat Medium"/>
                  </a:rPr>
                  <a:t>System returns forecast and BUY/SELL/HOLD recommendation</a:t>
                </a: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5400000">
              <a:off x="4473604" y="972447"/>
              <a:ext cx="371332" cy="371332"/>
              <a:chOff x="0" y="0"/>
              <a:chExt cx="812800" cy="812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5400000">
              <a:off x="4473604" y="2316226"/>
              <a:ext cx="371332" cy="371332"/>
              <a:chOff x="0" y="0"/>
              <a:chExt cx="812800" cy="8128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5400000">
              <a:off x="4473604" y="3657590"/>
              <a:ext cx="371332" cy="371332"/>
              <a:chOff x="0" y="0"/>
              <a:chExt cx="812800" cy="8128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44" id="44"/>
            <p:cNvGrpSpPr/>
            <p:nvPr/>
          </p:nvGrpSpPr>
          <p:grpSpPr>
            <a:xfrm rot="5400000">
              <a:off x="4473604" y="5001369"/>
              <a:ext cx="371332" cy="371332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47" id="47"/>
            <p:cNvGrpSpPr/>
            <p:nvPr/>
          </p:nvGrpSpPr>
          <p:grpSpPr>
            <a:xfrm rot="5400000">
              <a:off x="4473604" y="6340162"/>
              <a:ext cx="371332" cy="371332"/>
              <a:chOff x="0" y="0"/>
              <a:chExt cx="812800" cy="81280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5400000">
              <a:off x="4473604" y="7681526"/>
              <a:ext cx="371332" cy="371332"/>
              <a:chOff x="0" y="0"/>
              <a:chExt cx="812800" cy="81280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5400000">
              <a:off x="4473604" y="9022890"/>
              <a:ext cx="371332" cy="371332"/>
              <a:chOff x="0" y="0"/>
              <a:chExt cx="812800" cy="81280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5400000">
              <a:off x="4473604" y="10353945"/>
              <a:ext cx="371332" cy="371332"/>
              <a:chOff x="0" y="0"/>
              <a:chExt cx="812800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812800" y="406400"/>
                    </a:moveTo>
                    <a:lnTo>
                      <a:pt x="406400" y="0"/>
                    </a:lnTo>
                    <a:lnTo>
                      <a:pt x="406400" y="203200"/>
                    </a:lnTo>
                    <a:lnTo>
                      <a:pt x="0" y="203200"/>
                    </a:lnTo>
                    <a:lnTo>
                      <a:pt x="0" y="609600"/>
                    </a:lnTo>
                    <a:lnTo>
                      <a:pt x="406400" y="609600"/>
                    </a:lnTo>
                    <a:lnTo>
                      <a:pt x="406400" y="812800"/>
                    </a:lnTo>
                    <a:lnTo>
                      <a:pt x="812800" y="406400"/>
                    </a:lnTo>
                    <a:close/>
                  </a:path>
                </a:pathLst>
              </a:custGeom>
              <a:solidFill>
                <a:srgbClr val="705EFF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174625"/>
                <a:ext cx="711200" cy="434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286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38188" y="679841"/>
            <a:ext cx="0" cy="9607159"/>
          </a:xfrm>
          <a:prstGeom prst="line">
            <a:avLst/>
          </a:prstGeom>
          <a:ln cap="flat" w="9525">
            <a:solidFill>
              <a:srgbClr val="FFFFFF">
                <a:alpha val="56863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325032">
            <a:off x="-6818419" y="5848069"/>
            <a:ext cx="15462153" cy="11329541"/>
          </a:xfrm>
          <a:custGeom>
            <a:avLst/>
            <a:gdLst/>
            <a:ahLst/>
            <a:cxnLst/>
            <a:rect r="r" b="b" t="t" l="l"/>
            <a:pathLst>
              <a:path h="11329541" w="15462153">
                <a:moveTo>
                  <a:pt x="0" y="0"/>
                </a:moveTo>
                <a:lnTo>
                  <a:pt x="15462153" y="0"/>
                </a:lnTo>
                <a:lnTo>
                  <a:pt x="15462153" y="11329541"/>
                </a:lnTo>
                <a:lnTo>
                  <a:pt x="0" y="113295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10049570">
            <a:off x="8878776" y="-4809475"/>
            <a:ext cx="16902006" cy="12384561"/>
          </a:xfrm>
          <a:custGeom>
            <a:avLst/>
            <a:gdLst/>
            <a:ahLst/>
            <a:cxnLst/>
            <a:rect r="r" b="b" t="t" l="l"/>
            <a:pathLst>
              <a:path h="12384561" w="16902006">
                <a:moveTo>
                  <a:pt x="0" y="0"/>
                </a:moveTo>
                <a:lnTo>
                  <a:pt x="16902006" y="0"/>
                </a:lnTo>
                <a:lnTo>
                  <a:pt x="16902006" y="12384561"/>
                </a:lnTo>
                <a:lnTo>
                  <a:pt x="0" y="12384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9525" cap="sq">
            <a:solidFill>
              <a:srgbClr val="000000">
                <a:alpha val="87843"/>
              </a:srgbClr>
            </a:solidFill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7577800" y="3933818"/>
            <a:ext cx="9407479" cy="5324482"/>
            <a:chOff x="0" y="0"/>
            <a:chExt cx="1381351" cy="7818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1351" cy="781822"/>
            </a:xfrm>
            <a:custGeom>
              <a:avLst/>
              <a:gdLst/>
              <a:ahLst/>
              <a:cxnLst/>
              <a:rect r="r" b="b" t="t" l="l"/>
              <a:pathLst>
                <a:path h="781822" w="1381351">
                  <a:moveTo>
                    <a:pt x="0" y="0"/>
                  </a:moveTo>
                  <a:lnTo>
                    <a:pt x="1381351" y="0"/>
                  </a:lnTo>
                  <a:lnTo>
                    <a:pt x="1381351" y="781822"/>
                  </a:lnTo>
                  <a:lnTo>
                    <a:pt x="0" y="781822"/>
                  </a:lnTo>
                  <a:close/>
                </a:path>
              </a:pathLst>
            </a:custGeom>
            <a:blipFill>
              <a:blip r:embed="rId4"/>
              <a:stretch>
                <a:fillRect l="0" t="0" r="-39458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25313" y="1221601"/>
            <a:ext cx="6135442" cy="1237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b="true" sz="7734" spc="-154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294" y="3862399"/>
            <a:ext cx="5517522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2400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FRONTEND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48779" y="4363974"/>
            <a:ext cx="3098970" cy="32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8"/>
              </a:lnSpc>
            </a:pPr>
            <a:r>
              <a:rPr lang="en-US" sz="177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Next.js, React, Tailwin</a:t>
            </a:r>
            <a:r>
              <a:rPr lang="en-US" sz="1777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d CSS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9294" y="5237038"/>
            <a:ext cx="5187699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2400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BACKEND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9294" y="7761589"/>
            <a:ext cx="5312483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2400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DATA &amp; NLP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48779" y="5776214"/>
            <a:ext cx="5488508" cy="29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6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FastAPI, Uvicorn , GCP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48779" y="7037615"/>
            <a:ext cx="5488508" cy="29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6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LSTM (TensorFlow), XGBoost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38317" y="2392613"/>
            <a:ext cx="9086445" cy="1091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68"/>
              </a:lnSpc>
            </a:pPr>
            <a:r>
              <a:rPr lang="en-US" sz="1885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The frontend is built using Next.js, while the backend uses FastAPI for handling APIs. For prediction, I used a hybrid model combining LSTM and XGBoost, and integrated sentiment analysis using TextBlob.</a:t>
            </a:r>
          </a:p>
        </p:txBody>
      </p:sp>
      <p:sp>
        <p:nvSpPr>
          <p:cNvPr name="TextBox 15" id="15"/>
          <p:cNvSpPr txBox="true"/>
          <p:nvPr/>
        </p:nvSpPr>
        <p:spPr>
          <a:xfrm rot="5400000">
            <a:off x="-1125046" y="2108026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9294" y="6499643"/>
            <a:ext cx="5333254" cy="318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b="true" sz="2400">
                <a:solidFill>
                  <a:srgbClr val="7A73FA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ML MODELS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8779" y="8299561"/>
            <a:ext cx="5488508" cy="295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2"/>
              </a:lnSpc>
            </a:pPr>
            <a:r>
              <a:rPr lang="en-US" sz="1602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finance, pandas, TextBlob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10297883">
            <a:off x="11876461" y="-2371991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6"/>
                </a:lnTo>
                <a:lnTo>
                  <a:pt x="0" y="84915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578925" y="-2601318"/>
            <a:ext cx="9356968" cy="9356968"/>
          </a:xfrm>
          <a:custGeom>
            <a:avLst/>
            <a:gdLst/>
            <a:ahLst/>
            <a:cxnLst/>
            <a:rect r="r" b="b" t="t" l="l"/>
            <a:pathLst>
              <a:path h="9356968" w="9356968">
                <a:moveTo>
                  <a:pt x="0" y="0"/>
                </a:moveTo>
                <a:lnTo>
                  <a:pt x="9356968" y="0"/>
                </a:lnTo>
                <a:lnTo>
                  <a:pt x="9356968" y="9356968"/>
                </a:lnTo>
                <a:lnTo>
                  <a:pt x="0" y="93569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7952225" y="-4632358"/>
            <a:ext cx="18313838" cy="13419048"/>
          </a:xfrm>
          <a:custGeom>
            <a:avLst/>
            <a:gdLst/>
            <a:ahLst/>
            <a:cxnLst/>
            <a:rect r="r" b="b" t="t" l="l"/>
            <a:pathLst>
              <a:path h="13419048" w="18313838">
                <a:moveTo>
                  <a:pt x="0" y="0"/>
                </a:moveTo>
                <a:lnTo>
                  <a:pt x="18313838" y="0"/>
                </a:lnTo>
                <a:lnTo>
                  <a:pt x="18313838" y="13419048"/>
                </a:lnTo>
                <a:lnTo>
                  <a:pt x="0" y="134190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-2957684">
            <a:off x="538135" y="5361586"/>
            <a:ext cx="8480931" cy="8491545"/>
          </a:xfrm>
          <a:custGeom>
            <a:avLst/>
            <a:gdLst/>
            <a:ahLst/>
            <a:cxnLst/>
            <a:rect r="r" b="b" t="t" l="l"/>
            <a:pathLst>
              <a:path h="8491545" w="8480931">
                <a:moveTo>
                  <a:pt x="0" y="0"/>
                </a:moveTo>
                <a:lnTo>
                  <a:pt x="8480931" y="0"/>
                </a:lnTo>
                <a:lnTo>
                  <a:pt x="8480931" y="8491545"/>
                </a:lnTo>
                <a:lnTo>
                  <a:pt x="0" y="84915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88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2635814" y="2398773"/>
            <a:ext cx="6621595" cy="6859527"/>
          </a:xfrm>
          <a:custGeom>
            <a:avLst/>
            <a:gdLst/>
            <a:ahLst/>
            <a:cxnLst/>
            <a:rect r="r" b="b" t="t" l="l"/>
            <a:pathLst>
              <a:path h="6859527" w="6621595">
                <a:moveTo>
                  <a:pt x="0" y="0"/>
                </a:moveTo>
                <a:lnTo>
                  <a:pt x="6621595" y="0"/>
                </a:lnTo>
                <a:lnTo>
                  <a:pt x="6621595" y="6859527"/>
                </a:lnTo>
                <a:lnTo>
                  <a:pt x="0" y="68595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8809" y="4224348"/>
            <a:ext cx="10657005" cy="188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83"/>
              </a:lnSpc>
            </a:pPr>
            <a:r>
              <a:rPr lang="en-US" b="true" sz="12720" spc="-25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3471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75140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3810" y="595540"/>
            <a:ext cx="3080379" cy="22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7"/>
              </a:lnSpc>
            </a:pPr>
            <a:r>
              <a:rPr lang="en-US" sz="1305" spc="372">
                <a:solidFill>
                  <a:srgbClr val="DCD8D8"/>
                </a:solidFill>
                <a:latin typeface="IBM Plex Sans"/>
                <a:ea typeface="IBM Plex Sans"/>
                <a:cs typeface="IBM Plex Sans"/>
                <a:sym typeface="IBM Plex Sans"/>
              </a:rPr>
              <a:t>AINESP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DAHInvOVv74</dc:identifier>
  <dcterms:modified xsi:type="dcterms:W3CDTF">2011-08-01T06:04:30Z</dcterms:modified>
  <cp:revision>1</cp:revision>
  <dc:title>AINESP</dc:title>
</cp:coreProperties>
</file>